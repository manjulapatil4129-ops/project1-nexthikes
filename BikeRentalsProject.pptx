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3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cnt</c:v>
                </c:pt>
              </c:strCache>
            </c:strRef>
          </c:tx>
          <c:spPr>
            <a:ln>
              <a:solidFill>
                <a:srgbClr val="009691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19.588235294117649</c:v>
                </c:pt>
                <c:pt idx="1">
                  <c:v>13</c:v>
                </c:pt>
                <c:pt idx="2">
                  <c:v>7.2941176470588234</c:v>
                </c:pt>
                <c:pt idx="3">
                  <c:v>5</c:v>
                </c:pt>
                <c:pt idx="4">
                  <c:v>2.5833333333333335</c:v>
                </c:pt>
                <c:pt idx="5">
                  <c:v>4.5999999999999996</c:v>
                </c:pt>
                <c:pt idx="6">
                  <c:v>21.625</c:v>
                </c:pt>
                <c:pt idx="7">
                  <c:v>55.647058823529413</c:v>
                </c:pt>
                <c:pt idx="8">
                  <c:v>129.375</c:v>
                </c:pt>
                <c:pt idx="9">
                  <c:v>92.25</c:v>
                </c:pt>
                <c:pt idx="10">
                  <c:v>59.5</c:v>
                </c:pt>
                <c:pt idx="11">
                  <c:v>64.9375</c:v>
                </c:pt>
                <c:pt idx="12">
                  <c:v>84.1875</c:v>
                </c:pt>
                <c:pt idx="13">
                  <c:v>85.0625</c:v>
                </c:pt>
                <c:pt idx="14">
                  <c:v>85.8125</c:v>
                </c:pt>
                <c:pt idx="15">
                  <c:v>88.625</c:v>
                </c:pt>
                <c:pt idx="16">
                  <c:v>101.64705882352941</c:v>
                </c:pt>
                <c:pt idx="17">
                  <c:v>154.05882352941177</c:v>
                </c:pt>
                <c:pt idx="18">
                  <c:v>129.47058823529412</c:v>
                </c:pt>
                <c:pt idx="19">
                  <c:v>85.17647058823529</c:v>
                </c:pt>
                <c:pt idx="20">
                  <c:v>65.588235294117652</c:v>
                </c:pt>
                <c:pt idx="21">
                  <c:v>54.176470588235297</c:v>
                </c:pt>
                <c:pt idx="22">
                  <c:v>39.411764705882355</c:v>
                </c:pt>
                <c:pt idx="23">
                  <c:v>30.764705882352942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67-44D8-9104-677EC0A6E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cnt</c:v>
                </c:pt>
              </c:strCache>
            </c:strRef>
          </c:tx>
          <c:spPr>
            <a:solidFill>
              <a:srgbClr val="2669AA"/>
            </a:solidFill>
            <a:ln>
              <a:solidFill>
                <a:srgbClr val="2669AA"/>
              </a:solidFill>
            </a:ln>
          </c:spPr>
          <c:invertIfNegative val="1"/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61.542857142857144</c:v>
                </c:pt>
                <c:pt idx="1">
                  <c:v>60.071428571428569</c:v>
                </c:pt>
                <c:pt idx="2">
                  <c:v>61.48936170212766</c:v>
                </c:pt>
                <c:pt idx="3">
                  <c:v>66.61702127659575</c:v>
                </c:pt>
                <c:pt idx="4">
                  <c:v>67.130434782608702</c:v>
                </c:pt>
                <c:pt idx="5">
                  <c:v>76.415094339622641</c:v>
                </c:pt>
                <c:pt idx="6">
                  <c:v>50.352112676056336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669A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CBD-4F85-93E5-CC3EE7D805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cnt</c:v>
                </c:pt>
              </c:strCache>
            </c:strRef>
          </c:tx>
          <c:spPr>
            <a:solidFill>
              <a:srgbClr val="009691"/>
            </a:solidFill>
            <a:ln>
              <a:solidFill>
                <a:srgbClr val="009691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Weather 1</c:v>
                </c:pt>
                <c:pt idx="1">
                  <c:v>Weather 2</c:v>
                </c:pt>
                <c:pt idx="2">
                  <c:v>Weather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64.705882352941174</c:v>
                </c:pt>
                <c:pt idx="1">
                  <c:v>66.782608695652172</c:v>
                </c:pt>
                <c:pt idx="2">
                  <c:v>35.837837837837839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96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D68-4EED-96C6-129594BCB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cnt</c:v>
                </c:pt>
              </c:strCache>
            </c:strRef>
          </c:tx>
          <c:spPr>
            <a:solidFill>
              <a:srgbClr val="F09940"/>
            </a:solidFill>
            <a:ln>
              <a:solidFill>
                <a:srgbClr val="F09940"/>
              </a:solidFill>
            </a:ln>
          </c:spPr>
          <c:invertIfNegative val="1"/>
          <c:cat>
            <c:strRef>
              <c:f>Sheet1!$A$2:$A$2</c:f>
              <c:strCache>
                <c:ptCount val="1"/>
                <c:pt idx="0">
                  <c:v>Non-holiday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62.579487179487181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0994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C46-484B-A8A3-834517DC2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731520"/>
            <a:ext cx="2194560" cy="2194560"/>
          </a:xfrm>
          <a:prstGeom prst="ellipse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2103120"/>
            <a:ext cx="1645920" cy="164592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200400"/>
            <a:ext cx="1188720" cy="1188720"/>
          </a:xfrm>
          <a:prstGeom prst="ellipse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4297680"/>
            <a:ext cx="1828800" cy="1828800"/>
          </a:xfrm>
          <a:prstGeom prst="ellipse">
            <a:avLst/>
          </a:prstGeom>
          <a:solidFill>
            <a:srgbClr val="2B4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987" y="2699182"/>
            <a:ext cx="3345211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009691"/>
                </a:solidFill>
                <a:latin typeface="Aptos"/>
              </a:defRPr>
            </a:pPr>
            <a:r>
              <a:rPr lang="en-US" sz="1600" dirty="0"/>
              <a:t>Project: NEXTHIKES IT SOLUTIONS</a:t>
            </a: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106252" cy="88639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4800" dirty="0">
                <a:solidFill>
                  <a:schemeClr val="accent2"/>
                </a:solidFill>
              </a:rPr>
              <a:t>B</a:t>
            </a:r>
            <a:r>
              <a:rPr lang="en-US" sz="4800" dirty="0">
                <a:solidFill>
                  <a:schemeClr val="accent2"/>
                </a:solidFill>
              </a:rPr>
              <a:t>IKE RENTALS</a:t>
            </a:r>
            <a:endParaRPr sz="4800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162611"/>
            <a:ext cx="6217920" cy="8229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DAE5F0"/>
                </a:solidFill>
                <a:latin typeface="Aptos"/>
              </a:defRPr>
            </a:pPr>
            <a:r>
              <a:rPr dirty="0"/>
              <a:t>How time, weather and holidays influence hourly bike rentals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>
                <a:solidFill>
                  <a:srgbClr val="627080"/>
                </a:solidFill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5BC1B6-A49A-EEDC-558A-17686F07F704}"/>
              </a:ext>
            </a:extLst>
          </p:cNvPr>
          <p:cNvSpPr txBox="1"/>
          <p:nvPr/>
        </p:nvSpPr>
        <p:spPr>
          <a:xfrm>
            <a:off x="755693" y="3456206"/>
            <a:ext cx="2028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Created By: Manjula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210623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526589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Why bike-sharing demand analysis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>
                <a:solidFill>
                  <a:srgbClr val="002060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528" y="1353988"/>
            <a:ext cx="9881744" cy="85818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Bike-sharing demand changes with time, weather and calendar effects. Without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21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organized data, planning bikes and staff can be inefficient.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0328" y="2194560"/>
            <a:ext cx="2377440" cy="155448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2060"/>
              </a:solidFill>
              <a:highlight>
                <a:srgbClr val="C0C0C0"/>
              </a:highligh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0036" y="2232660"/>
            <a:ext cx="64008" cy="15544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5929" y="2225803"/>
            <a:ext cx="1953420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Business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9645" y="2566264"/>
            <a:ext cx="1697965" cy="82997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Uncertain demand can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create empty docks or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unavailable bikes.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86784" y="2194560"/>
            <a:ext cx="2377440" cy="155448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72687" y="2240280"/>
            <a:ext cx="64008" cy="1554480"/>
          </a:xfrm>
          <a:prstGeom prst="rect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69005" y="2176272"/>
            <a:ext cx="154875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Data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7936" y="2556814"/>
            <a:ext cx="2036263" cy="82997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Hourly rental data and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weather information may be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stored separately.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0036" y="4937760"/>
            <a:ext cx="2377440" cy="155448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33272" y="4983480"/>
            <a:ext cx="64008" cy="1554480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4648" y="5029200"/>
            <a:ext cx="1368195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Analysis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4648" y="5409437"/>
            <a:ext cx="1785682" cy="82997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Turn raw tables into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consistent, interpretable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5047182"/>
            <a:ext cx="2377440" cy="155448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940683" y="5029200"/>
            <a:ext cx="64008" cy="1554480"/>
          </a:xfrm>
          <a:prstGeom prst="rect">
            <a:avLst/>
          </a:prstGeom>
          <a:solidFill>
            <a:srgbClr val="2C8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79392" y="5129784"/>
            <a:ext cx="1566391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Expected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5465979"/>
            <a:ext cx="1918923" cy="82997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Support staffing, fleet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allocation and operational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planning.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105656"/>
            <a:ext cx="8576963" cy="73507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Core question: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When is demand highest, and which conditions are associated with more or fewer rentals?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036857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683683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What the Excel workflow is designed to deliver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>
                <a:solidFill>
                  <a:srgbClr val="002060"/>
                </a:solidFill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14173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1728216"/>
            <a:ext cx="1000530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01 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30552"/>
            <a:ext cx="3018583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Standardize dates, categories, formats and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missing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80560" y="1600200"/>
            <a:ext cx="64008" cy="1417320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5152" y="1728216"/>
            <a:ext cx="1300292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02  Combine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130552"/>
            <a:ext cx="2850973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Join hourly rental and weather data using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 shared keys.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75320" y="1600200"/>
            <a:ext cx="64008" cy="1417320"/>
          </a:xfrm>
          <a:prstGeom prst="rect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39912" y="1728216"/>
            <a:ext cx="1045414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03  Enrich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130552"/>
            <a:ext cx="3016403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Create hour, weekday, holiday and weather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4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5800" y="3520440"/>
            <a:ext cx="64008" cy="1417320"/>
          </a:xfrm>
          <a:prstGeom prst="rect">
            <a:avLst/>
          </a:prstGeom>
          <a:solidFill>
            <a:srgbClr val="2C8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0392" y="3648456"/>
            <a:ext cx="1152110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04  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050791"/>
            <a:ext cx="3360856" cy="3323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Compare rental patterns by time and conditions.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2044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80560" y="3520440"/>
            <a:ext cx="64008" cy="14173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45152" y="3648456"/>
            <a:ext cx="1777153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05  Communicate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050791"/>
            <a:ext cx="2895473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Build charts and a concise dashboard for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decisions.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904497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Deliverable: a cleaned workbook, transparent quality checks, and an Excel reporting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115020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Situation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957524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What the source data represents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>
                <a:solidFill>
                  <a:srgbClr val="002060"/>
                </a:solidFill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4008" cy="1828800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1682495"/>
            <a:ext cx="1826654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Hourly rental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84831"/>
            <a:ext cx="3150478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Rental counts by hour, including casual users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, registered users and total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64008" cy="18288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53712" y="1682495"/>
            <a:ext cx="1402500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Weather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84831"/>
            <a:ext cx="2900538" cy="82997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Weather situation and numeric weather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measures such as temperature, humidity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and windspeed.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64008" cy="1828800"/>
          </a:xfrm>
          <a:prstGeom prst="rect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11312" y="1682495"/>
            <a:ext cx="1470211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Calendar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084831"/>
            <a:ext cx="3046475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Date, month, weekday, season and holiday </a:t>
            </a:r>
            <a:r>
              <a:rPr lang="en-US" dirty="0">
                <a:solidFill>
                  <a:srgbClr val="002060"/>
                </a:solidFill>
              </a:rPr>
              <a:t>I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 err="1">
                <a:solidFill>
                  <a:srgbClr val="002060"/>
                </a:solidFill>
              </a:rPr>
              <a:t>ndicators</a:t>
            </a:r>
            <a:r>
              <a:rPr dirty="0">
                <a:solidFill>
                  <a:srgbClr val="002060"/>
                </a:solidFill>
              </a:rPr>
              <a:t> used to segment demand.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847" y="4754880"/>
            <a:ext cx="11744690" cy="4401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The analysis depends on matching the right date and hour across tables before interpreting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2960362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Dataset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636923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Initial workbook inspection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>
                <a:solidFill>
                  <a:srgbClr val="002060"/>
                </a:solidFill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28600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09520" y="1600200"/>
            <a:ext cx="929998" cy="53245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669AA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894" y="2075688"/>
            <a:ext cx="1385251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Rows in cleaned sheet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08760"/>
            <a:ext cx="228600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43732" y="1600200"/>
            <a:ext cx="490775" cy="53245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00969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8322" y="2075688"/>
            <a:ext cx="1141595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Columns retained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508760"/>
            <a:ext cx="228600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44092" y="1600200"/>
            <a:ext cx="319254" cy="53245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C8563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7273" y="2075688"/>
            <a:ext cx="1192891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Duplicate join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508760"/>
            <a:ext cx="274320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81921" y="1600200"/>
            <a:ext cx="929998" cy="53245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0994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3,660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988" y="2075688"/>
            <a:ext cx="857864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Missing cells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1163717" cy="4247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Key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4846320" cy="18897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instant, dteday and hr: join identifiers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season, yr, mnth, weekday and holiday: calendar features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weathersit, temp, atemp, hum and windspeed: weather conditions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casual, registered and cnt: rental measures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63240"/>
            <a:ext cx="2324354" cy="4247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C345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Data-quality warning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20440"/>
            <a:ext cx="4866910" cy="101463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Six columns each have 610 blanks. The merged sheet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therefore needs source-alignment and missing-data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checks before demand comparisons can be trusted.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649653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Data Cleaning in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056910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A repeatable preparation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>
                <a:solidFill>
                  <a:srgbClr val="002060"/>
                </a:solidFill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536192"/>
            <a:ext cx="438912" cy="438912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0879" y="1609344"/>
            <a:ext cx="223074" cy="3170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08760"/>
            <a:ext cx="897938" cy="40934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08760"/>
            <a:ext cx="4850046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Check headers, data types, date formats and row counts.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77439"/>
            <a:ext cx="438912" cy="438912"/>
          </a:xfrm>
          <a:prstGeom prst="ellipse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0879" y="2450591"/>
            <a:ext cx="223074" cy="3170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50008"/>
            <a:ext cx="1332737" cy="40934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Standardize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50008"/>
            <a:ext cx="4828181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Trim spaces; normalize TRUE/FALSE and category labels.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18688"/>
            <a:ext cx="438912" cy="438912"/>
          </a:xfrm>
          <a:prstGeom prst="ellipse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0879" y="3291840"/>
            <a:ext cx="223074" cy="3170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91256"/>
            <a:ext cx="957442" cy="40934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191256"/>
            <a:ext cx="4861587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Check season 1–4, weekday 0–6, hour 0–23, weather 1–4.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059936"/>
            <a:ext cx="438912" cy="438912"/>
          </a:xfrm>
          <a:prstGeom prst="ellipse">
            <a:avLst/>
          </a:prstGeom>
          <a:solidFill>
            <a:srgbClr val="2C8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0879" y="4133088"/>
            <a:ext cx="223074" cy="3170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32504"/>
            <a:ext cx="1363322" cy="40934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Deduplicate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32504"/>
            <a:ext cx="4734822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Remove exact duplicates and repeated composite keys.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901184"/>
            <a:ext cx="438912" cy="438912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0879" y="4974336"/>
            <a:ext cx="223074" cy="3170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73752"/>
            <a:ext cx="1192891" cy="40934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873752"/>
            <a:ext cx="3791102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Record missing-value counts and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539302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Combining the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101794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Merge on the shared composite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>
                <a:solidFill>
                  <a:srgbClr val="002060"/>
                </a:solidFill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292608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64008" cy="1508760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" y="1728216"/>
            <a:ext cx="813556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Table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30552"/>
            <a:ext cx="2146037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Hourly rental records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Date + hour + rental measures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00200"/>
            <a:ext cx="292608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12480" y="1600200"/>
            <a:ext cx="64008" cy="150876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77072" y="1728216"/>
            <a:ext cx="813556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Table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130552"/>
            <a:ext cx="1881862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Weather/calendar records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Date + hour +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6933" y="1783080"/>
            <a:ext cx="1744773" cy="45550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JOIN / MERGE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7184" y="2331720"/>
            <a:ext cx="2024272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00969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instant + dteday +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851" y="3703320"/>
            <a:ext cx="9758825" cy="4247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Recommended: Power Query → Merge Queries → select the same key columns in both tables.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51960"/>
            <a:ext cx="9875520" cy="1069011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Confirm key columns use matching data types and date formats.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Choose join type intentionally; inspect unmatched rows after merging.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Check that row counts and duplicate-key counts are explainable.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302699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Data Quality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549031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What the current cleaned workbook reveals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>
                <a:solidFill>
                  <a:srgbClr val="002060"/>
                </a:solidFill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233172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9192" y="1645920"/>
            <a:ext cx="319254" cy="53245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C8563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609" y="2121408"/>
            <a:ext cx="1582420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Duplicate composite keys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33172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512" y="1645920"/>
            <a:ext cx="319254" cy="53245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C8563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3765" y="2121408"/>
            <a:ext cx="1330749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Invalid season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554480"/>
            <a:ext cx="233172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9832" y="1645920"/>
            <a:ext cx="319254" cy="53245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C8563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4" y="2121408"/>
            <a:ext cx="1417311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Invalid weekday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554480"/>
            <a:ext cx="233172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38631" y="1645920"/>
            <a:ext cx="662297" cy="53245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C345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610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3385" y="2121408"/>
            <a:ext cx="1992789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Blank values per affected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63240"/>
            <a:ext cx="2007473" cy="4247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Affected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74720"/>
            <a:ext cx="4846320" cy="2146229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atemp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hum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windspeed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casual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registered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cnt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63240"/>
            <a:ext cx="1604157" cy="4247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74720"/>
            <a:ext cx="5383910" cy="101463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A likely concern is that some source columns are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populated for different subsets of rows. Check the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 merge keys and source-table coverage before filling blanks.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388" y="5829300"/>
            <a:ext cx="7497501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C345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Do not replace missing rental counts with zero: blank and zero mean different things.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2790636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Feature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539413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Turn raw columns into analysis-ready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>
                <a:solidFill>
                  <a:srgbClr val="002060"/>
                </a:solidFill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38328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64008" cy="1417320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" y="1682495"/>
            <a:ext cx="1423338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Time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84831"/>
            <a:ext cx="3313792" cy="3323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Hour of day • Day name • Month • Weekend flag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64008" cy="14173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53712" y="1682495"/>
            <a:ext cx="1828899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Calendar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84831"/>
            <a:ext cx="2566728" cy="3323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Holiday TRUE/FALSE • Season •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38328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01000" y="1554480"/>
            <a:ext cx="64008" cy="1417320"/>
          </a:xfrm>
          <a:prstGeom prst="rect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1682495"/>
            <a:ext cx="1621406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Weather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084831"/>
            <a:ext cx="3015890" cy="3323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Weather situation 1–4 • Temperature bands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94759"/>
            <a:ext cx="1683410" cy="4247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Why this helps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229098"/>
            <a:ext cx="4572000" cy="1022844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•  Enables consistent PivotTable grouping.</a:t>
            </a:r>
          </a:p>
          <a:p>
            <a:pPr>
              <a:spcAft>
                <a:spcPts val="1000"/>
              </a:spcAft>
              <a:defRPr sz="140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•  Makes comparisons easy for non-technical users.</a:t>
            </a:r>
          </a:p>
          <a:p>
            <a:pPr>
              <a:spcAft>
                <a:spcPts val="1000"/>
              </a:spcAft>
              <a:defRPr sz="140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•  Supports filters and interactive dashboard slicers.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2781274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Demand by Hour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3183820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Illustrative chart from rows with available rental 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 dirty="0">
                <a:solidFill>
                  <a:srgbClr val="002060"/>
                </a:solidFill>
              </a:rPr>
              <a:t>1</a:t>
            </a:r>
            <a:r>
              <a:rPr lang="en-US" sz="900" dirty="0">
                <a:solidFill>
                  <a:srgbClr val="002060"/>
                </a:solidFill>
              </a:rPr>
              <a:t>0</a:t>
            </a:r>
            <a:endParaRPr sz="900" dirty="0">
              <a:solidFill>
                <a:srgbClr val="002060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119090"/>
              </p:ext>
            </p:extLst>
          </p:nvPr>
        </p:nvGraphicFramePr>
        <p:xfrm>
          <a:off x="731520" y="150876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645920"/>
            <a:ext cx="292608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66760" y="1645920"/>
            <a:ext cx="64008" cy="1828800"/>
          </a:xfrm>
          <a:prstGeom prst="rect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31352" y="1773936"/>
            <a:ext cx="1482265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Coverage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1352" y="2176272"/>
            <a:ext cx="2581091" cy="107875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Only 390 of 1000 rows have a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non-missing total rental count. Treat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this curve as provisional, not as a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complete demand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749039"/>
            <a:ext cx="292608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66760" y="3749039"/>
            <a:ext cx="64008" cy="1417320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31352" y="3877055"/>
            <a:ext cx="2247025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Highest observed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4279392"/>
            <a:ext cx="2947153" cy="3323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Hour 17 in the currently populated subset.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440365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Demand by Weekday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957797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Average total rentals for rows with available 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 dirty="0">
                <a:solidFill>
                  <a:srgbClr val="002060"/>
                </a:solidFill>
              </a:rPr>
              <a:t>1</a:t>
            </a:r>
            <a:r>
              <a:rPr lang="en-US" sz="900" dirty="0">
                <a:solidFill>
                  <a:srgbClr val="002060"/>
                </a:solidFill>
              </a:rPr>
              <a:t>1</a:t>
            </a:r>
            <a:endParaRPr sz="900" dirty="0">
              <a:solidFill>
                <a:srgbClr val="002060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141595"/>
              </p:ext>
            </p:extLst>
          </p:nvPr>
        </p:nvGraphicFramePr>
        <p:xfrm>
          <a:off x="731520" y="1508760"/>
          <a:ext cx="71323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691640"/>
            <a:ext cx="315468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3879" y="1691640"/>
            <a:ext cx="64008" cy="18288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48471" y="1819656"/>
            <a:ext cx="1431226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How to 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1" y="2221992"/>
            <a:ext cx="2691571" cy="82997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Compare weekday averages only after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confirming each day has adequate,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representative observations.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749039"/>
            <a:ext cx="315468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83879" y="3749039"/>
            <a:ext cx="64008" cy="1508760"/>
          </a:xfrm>
          <a:prstGeom prst="rect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48471" y="3877055"/>
            <a:ext cx="1416734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Excel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4279392"/>
            <a:ext cx="2936381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Rows → Insert PivotTable → Rows: weekday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 → Values: Average of </a:t>
            </a:r>
            <a:r>
              <a:rPr dirty="0" err="1">
                <a:solidFill>
                  <a:srgbClr val="002060"/>
                </a:solidFill>
              </a:rPr>
              <a:t>cnt</a:t>
            </a:r>
            <a:r>
              <a:rPr dirty="0">
                <a:solidFill>
                  <a:srgbClr val="00206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661533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Weather and Rental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050498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Compare weather categories fairly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1156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 dirty="0">
                <a:solidFill>
                  <a:srgbClr val="002060"/>
                </a:solidFill>
              </a:rPr>
              <a:t>1</a:t>
            </a:r>
            <a:r>
              <a:rPr lang="en-US" sz="900" dirty="0">
                <a:solidFill>
                  <a:srgbClr val="002060"/>
                </a:solidFill>
              </a:rPr>
              <a:t>2</a:t>
            </a:r>
            <a:endParaRPr sz="900" dirty="0">
              <a:solidFill>
                <a:srgbClr val="002060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321409"/>
              </p:ext>
            </p:extLst>
          </p:nvPr>
        </p:nvGraphicFramePr>
        <p:xfrm>
          <a:off x="731520" y="1508760"/>
          <a:ext cx="71323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691640"/>
            <a:ext cx="315468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3879" y="1691640"/>
            <a:ext cx="64008" cy="1828800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48471" y="1819656"/>
            <a:ext cx="154221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Category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1" y="2221992"/>
            <a:ext cx="2302362" cy="107875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1 Clear / partly cloudy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2 Mist / cloudy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3 Light snow or rain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4 Heavy rain / ice / thunderstorm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749039"/>
            <a:ext cx="315468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83879" y="3749039"/>
            <a:ext cx="64008" cy="1508760"/>
          </a:xfrm>
          <a:prstGeom prst="rect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48471" y="3877055"/>
            <a:ext cx="888320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Caution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4279392"/>
            <a:ext cx="2761140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Category 4 may have few observations;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show sample counts beside averages.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735976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Holiday and Seasonal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933752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Separate real effects from sample-size differences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 dirty="0">
                <a:solidFill>
                  <a:srgbClr val="002060"/>
                </a:solidFill>
              </a:rPr>
              <a:t>1</a:t>
            </a:r>
            <a:r>
              <a:rPr lang="en-US" sz="900" dirty="0">
                <a:solidFill>
                  <a:srgbClr val="002060"/>
                </a:solidFill>
              </a:rPr>
              <a:t>3</a:t>
            </a:r>
            <a:endParaRPr sz="900" dirty="0">
              <a:solidFill>
                <a:srgbClr val="002060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519916"/>
              </p:ext>
            </p:extLst>
          </p:nvPr>
        </p:nvGraphicFramePr>
        <p:xfrm>
          <a:off x="731520" y="150876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645920"/>
            <a:ext cx="3174202" cy="4247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Recommended comparisons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148840"/>
            <a:ext cx="4480560" cy="1428083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Average rentals on holidays vs non-holidays.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Average rentals by season and month.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Show row counts with every average.</a:t>
            </a:r>
          </a:p>
          <a:p>
            <a:pPr>
              <a:spcAft>
                <a:spcPts val="10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•  Use filters to compare similar time periods.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418261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Casual vs Registered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685287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Demand is more informative when segmented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 dirty="0">
                <a:solidFill>
                  <a:srgbClr val="002060"/>
                </a:solidFill>
              </a:rPr>
              <a:t>1</a:t>
            </a:r>
            <a:r>
              <a:rPr lang="en-US" sz="900" dirty="0">
                <a:solidFill>
                  <a:srgbClr val="002060"/>
                </a:solidFill>
              </a:rPr>
              <a:t>4</a:t>
            </a:r>
            <a:endParaRPr sz="900" dirty="0">
              <a:solidFill>
                <a:srgbClr val="00206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02920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64008" cy="18288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1728216"/>
            <a:ext cx="1389676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Casual riders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30552"/>
            <a:ext cx="5012783" cy="3323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Explore leisure-oriented usage, weekend patterns and weather sensitivity.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02920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64008" cy="1828800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3952" y="1728216"/>
            <a:ext cx="1732462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Registered riders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30552"/>
            <a:ext cx="4490845" cy="3323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Explore routine usage, commute peaks and weekday consistency.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065" y="3977639"/>
            <a:ext cx="11247951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Excel analysis: PivotTable with hour or weekday in Rows, user type in Values, and slicers for month, season and weather.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010" y="4892040"/>
            <a:ext cx="11690060" cy="36317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C345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Current workbook caveat: casual, registered and cnt are blank for the same 610 rows, so validate source coverage before drawing conclusions.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649991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311787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Translate validated patterns into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 dirty="0">
                <a:solidFill>
                  <a:srgbClr val="002060"/>
                </a:solidFill>
              </a:rPr>
              <a:t>1</a:t>
            </a:r>
            <a:r>
              <a:rPr lang="en-US" sz="900" dirty="0">
                <a:solidFill>
                  <a:srgbClr val="002060"/>
                </a:solidFill>
              </a:rPr>
              <a:t>5</a:t>
            </a:r>
            <a:endParaRPr sz="900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601849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0969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Fleet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7257884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Position more bikes near locations and times with consistently high observed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95144"/>
            <a:ext cx="1447448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669AA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Staff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295144"/>
            <a:ext cx="6040693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Align rebalancing and maintenance shifts with repeatable peak periods.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72968"/>
            <a:ext cx="1901931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0994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Weather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172968"/>
            <a:ext cx="6565965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Use weather forecasts to adjust staffing and communicate service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50791"/>
            <a:ext cx="1871282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C8563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Customer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050791"/>
            <a:ext cx="6396110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Tailor offers to casual and registered rider behavior after segment validation.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28616"/>
            <a:ext cx="1148584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928616"/>
            <a:ext cx="6737357" cy="3785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Refresh the dashboard regularly and compare actual demand with prior periods.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957524" cy="5632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2807115" cy="30162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7080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From raw tables to better bike-sharing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263149" cy="2862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r>
              <a:rPr sz="900" dirty="0">
                <a:solidFill>
                  <a:srgbClr val="002060"/>
                </a:solidFill>
              </a:rPr>
              <a:t>1</a:t>
            </a:r>
            <a:r>
              <a:rPr lang="en-US" sz="900" dirty="0">
                <a:solidFill>
                  <a:srgbClr val="002060"/>
                </a:solidFill>
              </a:rPr>
              <a:t>6</a:t>
            </a:r>
            <a:endParaRPr sz="900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1517384" cy="48628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Excel provides a practical workflow for preparing, joining and exploring bike-sharing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03120"/>
            <a:ext cx="2331720" cy="146304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9264" y="2084832"/>
            <a:ext cx="64008" cy="14630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2130552"/>
            <a:ext cx="699166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51176"/>
            <a:ext cx="1591974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Consistent fields and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documented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6260" y="2139696"/>
            <a:ext cx="2331720" cy="146304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95394" y="2130552"/>
            <a:ext cx="64008" cy="1463040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91990" y="2171700"/>
            <a:ext cx="998928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Combine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7710" y="2487168"/>
            <a:ext cx="1611403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Reliable join keys and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traceable merges.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" y="4544568"/>
            <a:ext cx="2331720" cy="146304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8690" y="4544568"/>
            <a:ext cx="64008" cy="1463040"/>
          </a:xfrm>
          <a:prstGeom prst="rect">
            <a:avLst/>
          </a:prstGeom>
          <a:solidFill>
            <a:srgbClr val="F0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5004" y="4590288"/>
            <a:ext cx="875624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937760"/>
            <a:ext cx="1674626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PivotTables and charts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reveal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9684" y="4514891"/>
            <a:ext cx="2331720" cy="1463040"/>
          </a:xfrm>
          <a:prstGeom prst="roundRect">
            <a:avLst/>
          </a:prstGeom>
          <a:solidFill>
            <a:srgbClr val="F1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65676" y="4514891"/>
            <a:ext cx="64008" cy="1463040"/>
          </a:xfrm>
          <a:prstGeom prst="rect">
            <a:avLst/>
          </a:prstGeom>
          <a:solidFill>
            <a:srgbClr val="2C8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82287" y="4514891"/>
            <a:ext cx="460319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746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5998" y="4893826"/>
            <a:ext cx="1718997" cy="58118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Use validated evidence </a:t>
            </a:r>
            <a:endParaRPr lang="en-US" dirty="0">
              <a:solidFill>
                <a:srgbClr val="00206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for planning.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57600"/>
            <a:ext cx="7709739" cy="76585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rPr b="1" dirty="0">
                <a:solidFill>
                  <a:srgbClr val="002060"/>
                </a:solidFill>
              </a:rPr>
              <a:t>Key takeaway: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Good decisions start with reliable, complete data—not just attractive charts.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4C53403-D523-1035-6804-DB81996A3DEC}"/>
              </a:ext>
            </a:extLst>
          </p:cNvPr>
          <p:cNvSpPr txBox="1"/>
          <p:nvPr/>
        </p:nvSpPr>
        <p:spPr>
          <a:xfrm>
            <a:off x="3598233" y="2386584"/>
            <a:ext cx="539012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800" dirty="0">
                <a:solidFill>
                  <a:schemeClr val="accent2"/>
                </a:solidFill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1115</Words>
  <Application>Microsoft Office PowerPoint</Application>
  <PresentationFormat>Widescreen</PresentationFormat>
  <Paragraphs>229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Vishwanath Metigouda</dc:creator>
  <cp:keywords/>
  <dc:description>generated using python-pptx</dc:description>
  <cp:lastModifiedBy>Vishwanath Metigouda</cp:lastModifiedBy>
  <cp:revision>4</cp:revision>
  <dcterms:created xsi:type="dcterms:W3CDTF">2013-01-27T09:14:16Z</dcterms:created>
  <dcterms:modified xsi:type="dcterms:W3CDTF">2026-10-10T05:38:27Z</dcterms:modified>
  <cp:category/>
</cp:coreProperties>
</file>